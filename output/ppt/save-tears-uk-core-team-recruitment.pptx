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6b7f230834f76" /><Relationship Type="http://schemas.openxmlformats.org/officeDocument/2006/relationships/extended-properties" Target="/docProps/app.xml" Id="Ra0eee4c5d6b542fb" /><Relationship Type="http://schemas.openxmlformats.org/officeDocument/2006/relationships/officeDocument" Target="/ppt/presentation.xml" Id="R15f6286cc373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afb912bf74cf3"/>
  </p:sldMasterIdLst>
  <p:notesMasterIdLst>
    <p:notesMasterId xmlns:r="http://schemas.openxmlformats.org/officeDocument/2006/relationships" r:id="Rf4a386045cf14d8e"/>
  </p:notesMasterIdLst>
  <p:sldIdLst>
    <p:sldId xmlns:r="http://schemas.openxmlformats.org/officeDocument/2006/relationships" id="256" r:id="Rb9a39b181b464653"/>
    <p:sldId xmlns:r="http://schemas.openxmlformats.org/officeDocument/2006/relationships" id="257" r:id="Ra5bbf1d459254c32"/>
    <p:sldId xmlns:r="http://schemas.openxmlformats.org/officeDocument/2006/relationships" id="258" r:id="R17399e15fb9b413d"/>
    <p:sldId xmlns:r="http://schemas.openxmlformats.org/officeDocument/2006/relationships" id="259" r:id="Rb190e49144d045ce"/>
    <p:sldId xmlns:r="http://schemas.openxmlformats.org/officeDocument/2006/relationships" id="260" r:id="R82482e1bee064271"/>
    <p:sldId xmlns:r="http://schemas.openxmlformats.org/officeDocument/2006/relationships" id="261" r:id="Rb79e8dff39a247d4"/>
    <p:sldId xmlns:r="http://schemas.openxmlformats.org/officeDocument/2006/relationships" id="262" r:id="R2692bff13fd34f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74e7bb3b14d26" /><Relationship Type="http://schemas.openxmlformats.org/officeDocument/2006/relationships/slideMaster" Target="/ppt/slideMasters/slideMaster1.xml" Id="Rd56afb912bf74cf3" /><Relationship Type="http://schemas.openxmlformats.org/officeDocument/2006/relationships/notesMaster" Target="/ppt/notesMasters/notesMaster1.xml" Id="Rf4a386045cf14d8e" /><Relationship Type="http://schemas.openxmlformats.org/officeDocument/2006/relationships/presProps" Target="/ppt/presProps.xml" Id="R3e9bdef80c8547d1" /><Relationship Type="http://schemas.openxmlformats.org/officeDocument/2006/relationships/tableStyles" Target="/ppt/tableStyles.xml" Id="R25894b7b04294f77" /><Relationship Type="http://schemas.openxmlformats.org/officeDocument/2006/relationships/slide" Target="/ppt/slides/slide1.xml" Id="Rb9a39b181b464653" /><Relationship Type="http://schemas.openxmlformats.org/officeDocument/2006/relationships/slide" Target="/ppt/slides/slide2.xml" Id="Ra5bbf1d459254c32" /><Relationship Type="http://schemas.openxmlformats.org/officeDocument/2006/relationships/slide" Target="/ppt/slides/slide3.xml" Id="R17399e15fb9b413d" /><Relationship Type="http://schemas.openxmlformats.org/officeDocument/2006/relationships/slide" Target="/ppt/slides/slide4.xml" Id="Rb190e49144d045ce" /><Relationship Type="http://schemas.openxmlformats.org/officeDocument/2006/relationships/slide" Target="/ppt/slides/slide5.xml" Id="R82482e1bee064271" /><Relationship Type="http://schemas.openxmlformats.org/officeDocument/2006/relationships/slide" Target="/ppt/slides/slide6.xml" Id="Rb79e8dff39a247d4" /><Relationship Type="http://schemas.openxmlformats.org/officeDocument/2006/relationships/slide" Target="/ppt/slides/slide7.xml" Id="R2692bff13fd3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6aed65976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1ec3003e54924" /><Relationship Type="http://schemas.openxmlformats.org/officeDocument/2006/relationships/notesMaster" Target="/ppt/notesMasters/notesMaster1.xml" Id="Rea0a2e7b76f34f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19be3659a34668" /><Relationship Type="http://schemas.openxmlformats.org/officeDocument/2006/relationships/notesMaster" Target="/ppt/notesMasters/notesMaster1.xml" Id="R91a19b145ae44e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bc168dda1b44ec" /><Relationship Type="http://schemas.openxmlformats.org/officeDocument/2006/relationships/notesMaster" Target="/ppt/notesMasters/notesMaster1.xml" Id="Re26cfc52429749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88025780ea4998" /><Relationship Type="http://schemas.openxmlformats.org/officeDocument/2006/relationships/notesMaster" Target="/ppt/notesMasters/notesMaster1.xml" Id="R7edc9b6d316f4c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f182136c884ad4" /><Relationship Type="http://schemas.openxmlformats.org/officeDocument/2006/relationships/notesMaster" Target="/ppt/notesMasters/notesMaster1.xml" Id="R153985bbaccd4c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bd24562eb4a0b" /><Relationship Type="http://schemas.openxmlformats.org/officeDocument/2006/relationships/notesMaster" Target="/ppt/notesMasters/notesMaster1.xml" Id="R9485d182b71644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f60bcf50fe4967" /><Relationship Type="http://schemas.openxmlformats.org/officeDocument/2006/relationships/notesMaster" Target="/ppt/notesMasters/notesMaster1.xml" Id="R1521c9025b074b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9f195922342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91283b1864502" /><Relationship Type="http://schemas.openxmlformats.org/officeDocument/2006/relationships/slideLayout" Target="/ppt/slideLayouts/slideLayout1.xml" Id="R5c8e96a9bfac4f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e96a9bfac4f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1f59176e54fa2" /><Relationship Type="http://schemas.openxmlformats.org/officeDocument/2006/relationships/notesSlide" Target="/ppt/notesSlides/notesSlide1.xml" Id="R9264a19c4909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94513259f4abb" /><Relationship Type="http://schemas.openxmlformats.org/officeDocument/2006/relationships/image" Target="/ppt/media/image.png" Id="R11f3e8c8b7494fbe" /><Relationship Type="http://schemas.openxmlformats.org/officeDocument/2006/relationships/notesSlide" Target="/ppt/notesSlides/notesSlide2.xml" Id="R9b69406963f34c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4842546a948ed" /><Relationship Type="http://schemas.openxmlformats.org/officeDocument/2006/relationships/notesSlide" Target="/ppt/notesSlides/notesSlide3.xml" Id="R5d7b7cee8072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1cbaf9ef64808" /><Relationship Type="http://schemas.openxmlformats.org/officeDocument/2006/relationships/chart" Target="/ppt/slides/charts/chart1.xml" Id="Rce9a634819ed4920" /><Relationship Type="http://schemas.openxmlformats.org/officeDocument/2006/relationships/notesSlide" Target="/ppt/notesSlides/notesSlide4.xml" Id="R45d00186003746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1aab1fb884db5" /><Relationship Type="http://schemas.openxmlformats.org/officeDocument/2006/relationships/notesSlide" Target="/ppt/notesSlides/notesSlide5.xml" Id="R6efb4ee658dc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158a6f0df4197" /><Relationship Type="http://schemas.openxmlformats.org/officeDocument/2006/relationships/notesSlide" Target="/ppt/notesSlides/notesSlide6.xml" Id="R5e084826d65b47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8572abe6c42b7" /><Relationship Type="http://schemas.openxmlformats.org/officeDocument/2006/relationships/notesSlide" Target="/ppt/notesSlides/notesSlide7.xml" Id="Rfc2e4202c3a743e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R²</c:v>
          </c:tx>
          <c:spPr>
            <a:solidFill xmlns:a="http://schemas.openxmlformats.org/drawingml/2006/main">
              <a:srgbClr val="2C6F88"/>
            </a:solidFill>
          </c:spPr>
          <c:dPt>
            <c:idx val="0"/>
            <c:spPr>
              <a:solidFill xmlns:a="http://schemas.openxmlformats.org/drawingml/2006/main">
                <a:srgbClr val="A23A35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RF</c:v>
              </c:pt>
              <c:pt idx="1">
                <c:v>Gradient Boosting</c:v>
              </c:pt>
              <c:pt idx="2">
                <c:v>LSTM</c:v>
              </c:pt>
              <c:pt idx="3">
                <c:v>Linear Regression</c:v>
              </c:pt>
              <c:pt idx="4">
                <c:v>Naive lag_1</c:v>
              </c:pt>
            </c:strLit>
          </c:cat>
          <c:val>
            <c:numLit>
              <c:formatCode>0.0000</c:formatCode>
              <c:ptCount val="5"/>
              <c:pt idx="0">
                <c:v>0.7498</c:v>
              </c:pt>
              <c:pt idx="1">
                <c:v>0.7279</c:v>
              </c:pt>
              <c:pt idx="2">
                <c:v>0.7168</c:v>
              </c:pt>
              <c:pt idx="3">
                <c:v>0.6941</c:v>
              </c:pt>
              <c:pt idx="4">
                <c:v>0.5326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97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630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971BC-DB0F-4395-8EA1-1F6D3202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F2C81-9070-489F-BF92-F3DA6E0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50837-18AB-4C26-834F-07172FF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Sources: approved recruitment design; savetear.cloud public entry, 18 Jun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0D24E-674D-4D8E-B339-81C2AF3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56BCF-F875-43EF-876B-8383D982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SAVE TEARS · UK–CHINA CORE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E8350-7327-430B-97FE-87A5038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85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We Built It. Now We Need You.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D1C6C-62D7-4C7E-9915-32CE62E1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BB08F-5B12-486A-9F7A-CAD72CA0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From a winter camp prototype to a live greywater platform — now ready for the next engineering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234DB-CE27-4A6F-980D-1C2A9DB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FDEA2-FD73-4497-BD12-B4970EF4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6F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6F88"/>
                </a:solidFill>
                <a:latin typeface="Aptos"/>
                <a:ea typeface="Aptos"/>
                <a:cs typeface="Aptos"/>
              </a:rPr>
              <a:t>LIVE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86806-684A-43C3-BAED-86C5D765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Own domain · Own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2696A-169B-4151-B1B9-7C78C1C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3C3E4-A8A0-42FC-9E61-32792E8E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VALIDATED 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C6D70-601D-458B-A30F-034373F2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054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R² 0.7498 on public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78C8C-DE8A-4419-A549-323D7EFE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3B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E2872-235F-4A2A-9422-EE14E088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62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2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23B"/>
                </a:solidFill>
                <a:latin typeface="Aptos"/>
                <a:ea typeface="Aptos"/>
                <a:cs typeface="Aptos"/>
              </a:rPr>
              <a:t>OPEN PROBLEMS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46A04-5646-4D66-96B7-6BA84130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054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Real data · Greywater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0C00E-E962-4BF0-9BBE-C29A7F3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28700"/>
            <a:ext cx="31242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06A2C-E60C-4E3E-B1F3-A6267EAB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8D821-4FCA-4469-B613-B3129D6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savetear.cloud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E7879-6BD9-4B4A-AFF7-66097C2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Public entry 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2437A-0FDC-4051-A138-DFD2D423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18 JUN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851E5-474F-42FB-9952-433BF58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4EB9E-97EE-4989-A035-DD476D2E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362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Recruiting 2–4</a:t>
            </a:r>
          </a:p>
          <a:p xmlns:a="http://schemas.openxmlformats.org/drawingml/2006/main">
            <a:pPr algn="ctr">
              <a:defRPr sz="1575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long-term core members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FC1CD0-7ED0-441E-851F-11AE361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Telecom +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8849417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5506A-0CF2-42A6-95C5-96A7F944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17ACA-6777-477E-87B2-31130FF2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19C99-D2A3-4008-A569-73F59066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Sources: Save Tears deployment record; public entry captured 18 Jun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B9A7F-FDE0-4997-A025-82A8CE1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F867F-E6E8-41A2-B7B4-83BF560D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FROM IDEA TO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070FC-205B-4BFC-A45C-FA641CD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From Winter Camp to a Live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E26FA-F162-4765-97DA-BB5A4167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4EA49-B10D-4F49-B803-9147AF8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Winter Camp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00592-985C-4102-A234-D28E4F3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The project begins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EACDA-B467-46CE-ACF6-F0EA28B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863C0-8A7C-481C-8C03-1E13E43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240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89BF5-2294-4C92-AA94-82BF2633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Working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A151D-D4FF-4E29-AA81-4611EA4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Frontend +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3533F-CB8C-435C-A53C-6E55FC8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01862-3B62-4C08-9C03-5417196A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23A3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23A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E4F40-7838-489C-BEF6-D447FCE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Live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07463-8904-4F54-B553-6DE530E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Own domain +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FB7B6-29E2-4E21-9556-47F7D705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00965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3e8c8b7494fbe"/>
          <a:srcRect xmlns:a="http://schemas.openxmlformats.org/drawingml/2006/main" l="0" t="18923" r="0" b="18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362200"/>
            <a:ext cx="9906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F342A-6AF5-4872-83EF-FF2FCB3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67450"/>
            <a:ext cx="994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Public entry screen · no login attempted</a:t>
            </a:r>
          </a:p>
        </p:txBody>
      </p:sp>
    </p:spTree>
    <p:extLst>
      <p:ext uri="{BB962C8B-B14F-4D97-AF65-F5344CB8AC3E}">
        <p14:creationId xmlns:p14="http://schemas.microsoft.com/office/powerpoint/2010/main" val="14989471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F2028-C803-4C2A-A99B-D216C0D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F05AB-E306-47E2-9EBA-F525B1D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D2DB0-8F73-44DC-83FF-6B4E7586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Source: approved Save Tears UK recruitment-deck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AE337-C9C0-4CD9-91D9-1D678121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B4D75-A22A-44C6-9472-6488D3C2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THE NEXT ENGINEERING 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78422-CC27-4BEF-AD58-2AC1959A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Three Challenges We Cannot Solve Alone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A326D-2C28-4BE0-B577-03CE43B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8F38C-F4C4-491D-9EB5-4007F3FF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06885-1741-4AFC-B848-D0C8C44B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International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6A79A-185D-4DCB-959B-E89B741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908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Deploy and test Save Tears outside China.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2A7D3-B285-4647-A938-230C033E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ECBC7-A982-43F5-A000-1647A6F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UK test environment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EB8EF-8D10-484B-A746-75F1D9B7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C488D-C57F-401F-A842-ADD079E9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46BAF-C190-45EA-A147-163CE67F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Real-world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D50A0-80F5-4E49-B1D8-18BA3B6A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29908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Connect sensors through ThingCloud and replace mock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DEA4B-B0EB-45DE-B52A-C884AF05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23A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A23A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57D42-23F2-45BD-8883-DB6055C6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Device-to-cloud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1AB90-7FF2-4484-A82C-26977C3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0C8F3-640B-4773-8EBF-0B2AB0BB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3B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D6488-73D8-4C30-907E-DC0BF62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Greywater-aware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B74CC-CB6A-4AAB-A89F-3D6F04E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9908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Forecast demand and generate safe dual-source plans.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17A87-8744-4EC7-910E-F0CFADC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9A23B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C9A2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6D57E-E791-488D-9B30-C495383F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Dual-source decision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AD055-1E6C-4946-AD47-7C74E083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899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FF1A9-1819-4196-93FD-583DB47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These are not hypothetical features. They are clear ownership opportunities for new core members.</a:t>
            </a:r>
          </a:p>
        </p:txBody>
      </p:sp>
    </p:spTree>
    <p:extLst>
      <p:ext uri="{BB962C8B-B14F-4D97-AF65-F5344CB8AC3E}">
        <p14:creationId xmlns:p14="http://schemas.microsoft.com/office/powerpoint/2010/main" val="89279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ABFF3-DB62-4760-A587-0158A41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612C0-DF4E-4FC0-A7FF-332E5CDC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FA012-4E28-4563-9435-D0682519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Source: Tao Jiacheng, AI course design report, Jun 2026, pp. 9–18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7E0A0-87AD-4AD4-86F8-CEBF31C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3AECC-3FAB-465B-96D9-1F34BBD9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VALIDATED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77CB7-49BF-41F4-BB18-F9EA4E5B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Our First AI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2E457-FB73-4ADB-ABA3-17347AD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990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E13FD-1553-4F7D-9F70-99A873B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R²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30709-660C-4AEC-A1B4-41BFA996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23A35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A23A35"/>
                </a:solidFill>
                <a:latin typeface="Georgia"/>
                <a:ea typeface="Georgia"/>
                <a:cs typeface="Georgia"/>
              </a:rPr>
              <a:t>0.7498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A6430-93EE-48CC-B5D9-4468223F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Best result · Random Forest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E955C-E05D-4D2A-BBBC-E739E19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40181-98A6-4C14-9BDC-2332656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630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630"/>
                </a:solidFill>
                <a:latin typeface="Georgia"/>
                <a:ea typeface="Georgia"/>
                <a:cs typeface="Georgia"/>
              </a:rPr>
              <a:t>810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3F1A2-BEA5-4B9A-AD73-0ED1282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434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67420-E9A4-4B17-A111-78B97AD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630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630"/>
                </a:solidFill>
                <a:latin typeface="Georgia"/>
                <a:ea typeface="Georgia"/>
                <a:cs typeface="Georgia"/>
              </a:rPr>
              <a:t>131,220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8C584-DD7D-4332-B35C-2677B22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8155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3943350" y="1752600"/>
          <a:ext xmlns:a="http://schemas.openxmlformats.org/drawingml/2006/main" cx="76962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a634819ed4920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D301C-BC3B-4378-8B51-1237741C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FE049-429E-418C-9571-17F40AD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53100"/>
            <a:ext cx="956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Scope: public normal-water data · 6 hours → next hour · no greywater, weather or temperature inputs yet</a:t>
            </a:r>
          </a:p>
        </p:txBody>
      </p:sp>
    </p:spTree>
    <p:extLst>
      <p:ext uri="{BB962C8B-B14F-4D97-AF65-F5344CB8AC3E}">
        <p14:creationId xmlns:p14="http://schemas.microsoft.com/office/powerpoint/2010/main" val="1582911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EC2AF-5DDF-47B4-A0AE-611D0744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2D865-3A98-45CB-9DF7-7A0E4C2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059D6-8222-42D1-BB87-FC4CAD73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Source: approved Save Tears UK recruitment-deck design — proposed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BC735-9AC3-4202-90C5-882E840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E4EDE-7030-4296-B3AC-EC333A9B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RESPONSIBLE DUAL-SOURCE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EB210-31C6-4031-835A-87B4952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Why Generic LLMs Are Not Enough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FE897-9B4D-4B47-B84E-15563CF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DF978-5876-4132-94D0-1E3BE82F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PROPOSED RESEARCH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BC319-04E1-4999-A170-08AC04E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2AFE7-03BF-49B6-9A3E-BAE2484F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E26E-501F-4466-9DD3-3990D894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0C8C0-8DDE-4DB7-A9AC-A8B96193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266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Forecast</a:t>
            </a:r>
          </a:p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FA13E-6572-4A81-9429-7CD9ABEA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Next-hour normal-water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CBA96-4ED4-4097-87DD-676B192C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05125"/>
            <a:ext cx="22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86C6E-29A5-4D5B-A495-250F5485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BFDB1-C1A1-4FD4-BE31-3A71DA0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C1427-D1D4-4E13-AD9F-4EE7C10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A2F79-8733-434D-8375-8A917A3F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266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Greywater</a:t>
            </a:r>
          </a:p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A29F6-B61C-4C8F-A54F-B1096C3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What can be reused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6F785-3F4D-442B-8FB0-6E3FE38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05125"/>
            <a:ext cx="22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3EE6E-3B1B-452B-9ED6-69A4A2AA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26C11-A69F-4790-9FE9-041F8F0A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58CDB-063B-4512-95C4-AA0EF234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23A3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23A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DD344-C0C6-4DDC-B6FA-9A2FB15F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1266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Allocation</a:t>
            </a:r>
          </a:p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0E002-9940-40C5-8C50-1B47C1A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Safety, uses and ratio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B14EB-1340-44D6-85D2-7D2708C2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05125"/>
            <a:ext cx="22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4F9B2-4BD4-42D1-8EC7-DAE7987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3FBE7-633B-4D90-AC26-162CD72F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3B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71CAD9-2FD4-46A8-B769-44FC92D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A23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9A2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EE6CE-9BF7-402A-B776-BBCB0635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1266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RAG</a:t>
            </a:r>
          </a:p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knowledge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6471BE-B198-47CC-BD79-F72F5CDA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Retrieve trusted guidance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A45C97-E8AD-444A-8AC4-5A29FA93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05125"/>
            <a:ext cx="22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C1FC4-A764-440A-A124-52E1624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CD7E68-E80C-4358-876F-51467FE0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3B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19123-E910-4982-83EC-B795634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A23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9A23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4D7FAB-B734-4927-B0D5-DB13CE9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1266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LLM</a:t>
            </a:r>
          </a:p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explanation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462699-E2BF-4DE3-B857-73937E95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Personalise the rationale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86A9C3-F4D2-42A7-9AF4-F4CF16D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05125"/>
            <a:ext cx="22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674AD-4857-4DDC-A087-80F352B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325217-4B00-4E9C-9B11-012FC539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15A130-4EC8-4CC8-9C04-4D5D744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F8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C6F8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43F9B9-FDFF-41B9-8AA0-63E6F43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266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User</a:t>
            </a:r>
          </a:p>
          <a:p xmlns:a="http://schemas.openxmlformats.org/drawingml/2006/main">
            <a:pPr algn="l">
              <a:def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plan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AF061A-88CF-4060-8197-E5EDD2DA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Clear actions and targets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79FDB5-04EE-4E56-9C5C-B154A19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219135-DE26-4EB5-AEDB-F9B94A6C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0125"/>
            <a:ext cx="868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The LLM explains the plan. It does not invent the greywater ratio.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6220D9-4094-4561-B439-A42BCEA5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87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Fine-tuning comes after real greywater examples and a measurable evaluation set.</a:t>
            </a:r>
          </a:p>
        </p:txBody>
      </p:sp>
    </p:spTree>
    <p:extLst>
      <p:ext uri="{BB962C8B-B14F-4D97-AF65-F5344CB8AC3E}">
        <p14:creationId xmlns:p14="http://schemas.microsoft.com/office/powerpoint/2010/main" val="13580164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968E8-0A40-4F6C-AB0C-F2FCB560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5F8A1-608B-4981-BC72-67636068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373F2-9569-4F9B-94A2-862AFCDA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Source: approved Save Tears UK recruitment-deck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86DA3-D679-414E-8235-8FA1623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9AF6A-B916-4016-B6FD-5B0033C4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TWO MAJORS · ONE WORKING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84F7-70A3-4405-8E5A-C637287F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Two Majors, One Working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3F119-B73E-4CA0-ABE5-BF59480C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45339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99E14-FA35-466B-9CFB-21FB8E9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453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B0041-D478-483A-BECB-22D20D9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Telecom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3F6D0-35A8-44C9-BEE0-57A1331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E19DA-8F1D-4882-BBA6-5B1A8234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Sensors and gateways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0A22F-5B7D-40D3-AF59-E06719F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3C822-2A03-4E98-901A-4AA688FD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ThingCloud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4C0B7-7782-4355-A857-953BFC33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649B9-7004-4BA2-9928-83E25696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Data reliability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0923-7218-4FCA-B756-25946C6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19300"/>
            <a:ext cx="45339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4BB95-89F3-41EA-B838-9C920C62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19300"/>
            <a:ext cx="453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4CA70-4655-4E5A-B38B-564BBDF8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Software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F8AAA-AADF-4082-B907-7F584B9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88F69-01CB-43A5-BABB-07D91650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International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DB5FC-22A9-47A2-9E67-CD8D3D4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05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7F69E-26DE-473C-9C52-8FAEC0A4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576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Backend and data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E9920-8BAB-4192-8AD5-A753716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14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71EE8-4660-48C6-BBA7-BCAB780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672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Forecasting and AI 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431AB-C5F6-4613-90C8-240C2AC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390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919F5-1504-454C-B5D5-01835E8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9085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23A3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23A35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  <a:p xmlns:a="http://schemas.openxmlformats.org/drawingml/2006/main">
            <a:pPr algn="ctr">
              <a:defRPr sz="1350" b="1">
                <a:solidFill>
                  <a:srgbClr val="A23A3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23A35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C707F2-4257-483F-BA4B-052B52FB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A23A3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8DCBD-B0B0-4644-A932-0A304CB7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6735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82E23-6786-49F1-A057-CD62B104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11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630"/>
                </a:solidFill>
                <a:latin typeface="Aptos"/>
                <a:ea typeface="Aptos"/>
                <a:cs typeface="Aptos"/>
              </a:rPr>
              <a:t>Devices → reliable data → deployment → prediction → a plan people can act on</a:t>
            </a:r>
          </a:p>
        </p:txBody>
      </p:sp>
    </p:spTree>
    <p:extLst>
      <p:ext uri="{BB962C8B-B14F-4D97-AF65-F5344CB8AC3E}">
        <p14:creationId xmlns:p14="http://schemas.microsoft.com/office/powerpoint/2010/main" val="10660356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8FACA1-9224-48C4-97D8-3DD2E078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1258-7125-4727-BA36-BC415ABA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EB34-BE2C-43D8-A4C1-C513A247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Source: approved Save Tears UK recruitment-deck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1EFCC-8D51-4CF5-82EB-79205ADE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F30AB-D11F-4511-B1DA-DD0628D1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"/>
            <a:ext cx="4381500" cy="642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7BE78-273A-42C0-9006-F409D368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23A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23A35"/>
                </a:solidFill>
                <a:latin typeface="Aptos"/>
                <a:ea typeface="Aptos"/>
                <a:cs typeface="Aptos"/>
              </a:rPr>
              <a:t>THE DECISION IS ON-SITE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8A7C4-C0BE-4D8B-BC24-9845665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59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Join the Core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CB8FF-1174-4FE4-B3A6-1AEA4D4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97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A6973"/>
                </a:solidFill>
                <a:latin typeface="Aptos"/>
                <a:ea typeface="Aptos"/>
                <a:cs typeface="Aptos"/>
              </a:rPr>
              <a:t>Build the next stage of a product that already exists.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9AD85-1ED7-4031-89F7-CB344796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88"/>
          </a:solidFill>
          <a:ln xmlns:a="http://schemas.openxmlformats.org/drawingml/2006/main" w="9525">
            <a:solidFill>
              <a:srgbClr val="2C6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BBFA2-3F12-45A3-A521-B44871CE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601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Deploy internationally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92984-9355-42CA-9DD3-25622A1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72F2-B71F-4E00-9356-915F2198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601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Connect real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2F5D4-A54A-4AFF-AB74-FA9EADE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3B"/>
          </a:solidFill>
          <a:ln xmlns:a="http://schemas.openxmlformats.org/drawingml/2006/main" w="9525">
            <a:solidFill>
              <a:srgbClr val="C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1FE7A-9362-452D-BAB4-45006BA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601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630"/>
                </a:solidFill>
                <a:latin typeface="Aptos Display"/>
                <a:ea typeface="Aptos Display"/>
                <a:cs typeface="Aptos Display"/>
              </a:rPr>
              <a:t>Build responsible dual-source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0CAF9-9A23-4C11-B331-4C4D58B9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659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A35"/>
          </a:solidFill>
          <a:ln xmlns:a="http://schemas.openxmlformats.org/drawingml/2006/main" w="9525">
            <a:solidFill>
              <a:srgbClr val="A23A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853AE-92EB-46BE-ADD0-D1068E3F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613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Choose Save Tears today.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559C8-E0C2-41F6-B9C4-76DADA83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2–4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F541F-29ED-4118-8A1A-BCAD7CB4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320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LONG-TERM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CORE MEMBERS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9FE4A-7773-4A78-99C5-E1C494E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4330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9D4"/>
          </a:solidFill>
          <a:ln xmlns:a="http://schemas.openxmlformats.org/drawingml/2006/main" w="9525">
            <a:solidFill>
              <a:srgbClr val="AFC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713EF-F889-49D8-9BFC-56B1B93B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Telecom Engineering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672C1-B39F-4CA3-8897-E68395D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434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DEAF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DDEAF0"/>
                </a:solidFill>
                <a:latin typeface="Georgia"/>
                <a:ea typeface="Georgia"/>
                <a:cs typeface="Georgia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3139D-5E44-4C3E-B0AE-E8BE477B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9650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931E5-2B7B-4406-8F5A-2C42C8B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388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DEA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AF0"/>
                </a:solidFill>
                <a:latin typeface="Aptos"/>
                <a:ea typeface="Aptos"/>
                <a:cs typeface="Aptos"/>
              </a:rPr>
              <a:t>One product. One core team.</a:t>
            </a:r>
          </a:p>
        </p:txBody>
      </p:sp>
    </p:spTree>
    <p:extLst>
      <p:ext uri="{BB962C8B-B14F-4D97-AF65-F5344CB8AC3E}">
        <p14:creationId xmlns:p14="http://schemas.microsoft.com/office/powerpoint/2010/main" val="138441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2026-06-19T14:28:20.4400000Z</dcterms:created>
  <dcterms:modified xsi:type="dcterms:W3CDTF">2026-06-19T14:28:20.4410000Z</dcterms:modified>
</coreProperties>
</file>